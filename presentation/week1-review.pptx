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 line, roughly:</a:t>
            </a:r>
          </a:p>
          <a:p/>
          <a:p>
            <a:r>
              <a:t>"Week 1 was the groundwork - turning text into numbers, and cutting documents</a:t>
            </a:r>
          </a:p>
          <a:p>
            <a:r>
              <a:t>into pieces. Both are working. I also found three things that changed how I plan</a:t>
            </a:r>
          </a:p>
          <a:p>
            <a:r>
              <a:t>to build weeks 2 and 3."</a:t>
            </a:r>
          </a:p>
          <a:p/>
          <a:p>
            <a:r>
              <a:t>Then be upfront: "Four things are still outstanding, all mine to finish, and</a:t>
            </a:r>
          </a:p>
          <a:p>
            <a:r>
              <a:t>they're on the last slide."</a:t>
            </a:r>
          </a:p>
          <a:p/>
          <a:p>
            <a:r>
              <a:t>Saying that at the start rather than the end makes everything in between more</a:t>
            </a:r>
          </a:p>
          <a:p>
            <a:r>
              <a:t>credible.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Keep this to about 30 seconds. It is orientation, not content.</a:t>
            </a:r>
          </a:p>
          <a:p/>
          <a:p>
            <a:r>
              <a:t>If he asks why no framework: a framework would have done all of week 1 in about</a:t>
            </a:r>
          </a:p>
          <a:p>
            <a:r>
              <a:t>four lines and I would not be able to explain any of them. A week is the cost;</a:t>
            </a:r>
          </a:p>
          <a:p>
            <a:r>
              <a:t>understanding the four lines is the benefit.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Raise this early. If he holds 4 October you lose a whole week, and you both need</a:t>
            </a:r>
          </a:p>
          <a:p>
            <a:r>
              <a:t>to know that at the start of the meeting, not the end.</a:t>
            </a:r>
          </a:p>
          <a:p/>
          <a:p>
            <a:r>
              <a:t>Have the answer ready for "what would you cut?": the optional extras go first -</a:t>
            </a:r>
          </a:p>
          <a:p>
            <a:r>
              <a:t>tuning top-k beyond a single comparison, and the Chroma-versus-Pinecone write-up.</a:t>
            </a:r>
          </a:p>
          <a:p>
            <a:r>
              <a:t>What I would not cut is citations, the no-answer handling, or the demo video.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Spend your time on the highlighted row.</a:t>
            </a:r>
          </a:p>
          <a:p/>
          <a:p>
            <a:r>
              <a:t>"Those two sentences share no useful words at all. One says sourdough and</a:t>
            </a:r>
          </a:p>
          <a:p>
            <a:r>
              <a:t>weekend, the other says Saturdays and loaf from scratch. A keyword search scores</a:t>
            </a:r>
          </a:p>
          <a:p>
            <a:r>
              <a:t>that pair near zero. The model scored it 0.618, purely from meaning. That is the</a:t>
            </a:r>
          </a:p>
          <a:p>
            <a:r>
              <a:t>whole reason this project uses embeddings instead of search."</a:t>
            </a:r>
          </a:p>
          <a:p/>
          <a:p>
            <a:r>
              <a:t>Why a local model, if asked: Wednesday needed the whole corpus re-embedded</a:t>
            </a:r>
          </a:p>
          <a:p>
            <a:r>
              <a:t>repeatedly to compare chunk sizes. If I were paying per call I would have</a:t>
            </a:r>
          </a:p>
          <a:p>
            <a:r>
              <a:t>hesitated to re-run experiments, and that hesitation is the thing I most needed</a:t>
            </a:r>
          </a:p>
          <a:p>
            <a:r>
              <a:t>to avoid. OpenAI is wired up behind one setting if I want to compare later.</a:t>
            </a:r>
          </a:p>
          <a:p/>
          <a:p>
            <a:r>
              <a:t>Why hand-write cosine similarity: your brief says build manually, and I wanted to</a:t>
            </a:r>
          </a:p>
          <a:p>
            <a:r>
              <a:t>understand why you divide by the length of both - it cancels length out, so a</a:t>
            </a:r>
          </a:p>
          <a:p>
            <a:r>
              <a:t>short sentence and a long paragraph that mean the same thing still match.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A DRAFT, NOT YOUR ANSWER. Read it, then say the same idea your way and</a:t>
            </a:r>
          </a:p>
          <a:p>
            <a:r>
              <a:t>replace the text. Ten minutes with it will do.</a:t>
            </a:r>
          </a:p>
          <a:p/>
          <a:p>
            <a:r>
              <a:t>Why it must be yours: your mentor's self-check asks you to explain an embedding</a:t>
            </a:r>
          </a:p>
          <a:p>
            <a:r>
              <a:t>without falling back on the word "vector", and he will ask a follow-up. The usual</a:t>
            </a:r>
          </a:p>
          <a:p>
            <a:r>
              <a:t>ones are "so what makes two things land near each other?" and "why 384 numbers?"</a:t>
            </a:r>
          </a:p>
          <a:p>
            <a:r>
              <a:t>Wording you did not write is exactly where those questions land badly.</a:t>
            </a:r>
          </a:p>
          <a:p/>
          <a:p>
            <a:r>
              <a:t>Answers worth having ready:</a:t>
            </a:r>
          </a:p>
          <a:p>
            <a:r>
              <a:t>- What makes them land near each other? The model was trained on huge amounts of</a:t>
            </a:r>
          </a:p>
          <a:p>
            <a:r>
              <a:t>  text and learned which words and phrases turn up in similar situations. Nobody</a:t>
            </a:r>
          </a:p>
          <a:p>
            <a:r>
              <a:t>  programmed the positions.</a:t>
            </a:r>
          </a:p>
          <a:p>
            <a:r>
              <a:t>- Why 384? That is just the size this particular model outputs. A bigger model</a:t>
            </a:r>
          </a:p>
          <a:p>
            <a:r>
              <a:t>  uses more numbers and captures finer distinctions, at more cost. What matters is</a:t>
            </a:r>
          </a:p>
          <a:p>
            <a:r>
              <a:t>  that the count never changes with the length of the input.</a:t>
            </a:r>
          </a:p>
          <a:p>
            <a:r>
              <a:t>- Is it like a search index? No. A search index stores words. This stores a</a:t>
            </a:r>
          </a:p>
          <a:p>
            <a:r>
              <a:t>  position, so two passages can be close together with no words in common.</a:t>
            </a:r>
          </a:p>
          <a:p/>
          <a:p>
            <a:r>
              <a:t>If you have not rewritten it by the morning, say so honestly - "this is my</a:t>
            </a:r>
          </a:p>
          <a:p>
            <a:r>
              <a:t>current phrasing, I'm still tightening it" - and then demo the script. Showing</a:t>
            </a:r>
          </a:p>
          <a:p>
            <a:r>
              <a:t>the 0.618 score live proves the understanding better than a polished sentence.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most important slide of the week. Go slowly.</a:t>
            </a:r>
          </a:p>
          <a:p/>
          <a:p>
            <a:r>
              <a:t>Row 1: the sentence is in the document. It got split down the middle, so half is</a:t>
            </a:r>
          </a:p>
          <a:p>
            <a:r>
              <a:t>in one chunk and half in the next. Neither half is complete enough to match a</a:t>
            </a:r>
          </a:p>
          <a:p>
            <a:r>
              <a:t>question about it. So the fact is in my notes and my tool cannot find it - and</a:t>
            </a:r>
          </a:p>
          <a:p>
            <a:r>
              <a:t>nothing anywhere reports an error. The answers just quietly get worse.</a:t>
            </a:r>
          </a:p>
          <a:p/>
          <a:p>
            <a:r>
              <a:t>Then the subtle bit, which is the part worth knowing:</a:t>
            </a:r>
          </a:p>
          <a:p/>
          <a:p>
            <a:r>
              <a:t>Row 2 fixes it by luck. My splitter looks backwards for a sentence ending, and</a:t>
            </a:r>
          </a:p>
          <a:p>
            <a:r>
              <a:t>this time it found one before the fact. That only works when the text happens to</a:t>
            </a:r>
          </a:p>
          <a:p>
            <a:r>
              <a:t>have punctuation in the right place.</a:t>
            </a:r>
          </a:p>
          <a:p/>
          <a:p>
            <a:r>
              <a:t>Row 3 fixes it deliberately. Overlap does not depend on the text cooperating.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tradeoff in one sentence: small chunks match precisely but may leave out</a:t>
            </a:r>
          </a:p>
          <a:p>
            <a:r>
              <a:t>context the answer needs; big chunks carry their context along but dilute the</a:t>
            </a:r>
          </a:p>
          <a:p>
            <a:r>
              <a:t>match, because one relevant sentence gets averaged in with paragraphs of</a:t>
            </a:r>
          </a:p>
          <a:p>
            <a:r>
              <a:t>unrelated material.</a:t>
            </a:r>
          </a:p>
          <a:p/>
          <a:p>
            <a:r>
              <a:t>That is the answer to your self-check question about why chunk size affects</a:t>
            </a:r>
          </a:p>
          <a:p>
            <a:r>
              <a:t>quality.</a:t>
            </a:r>
          </a:p>
          <a:p/>
          <a:p>
            <a:r>
              <a:t>Say "provisional" out loud. 500 with 100 overlap is defensible from what I have -</a:t>
            </a:r>
          </a:p>
          <a:p>
            <a:r>
              <a:t>it held a complete thought without swallowing a whole table, and the overlap</a:t>
            </a:r>
          </a:p>
          <a:p>
            <a:r>
              <a:t>rescued the fact from the previous slide. But the only real test is whether</a:t>
            </a:r>
          </a:p>
          <a:p>
            <a:r>
              <a:t>answers are good, and that is next week. Every number I have so far is a stand-in</a:t>
            </a:r>
          </a:p>
          <a:p>
            <a:r>
              <a:t>for that.</a:t>
            </a:r>
          </a:p>
          <a:p/>
          <a:p>
            <a:r>
              <a:t>If asked about cost: the overlap means I store about 1.26 times my actual text,</a:t>
            </a:r>
          </a:p>
          <a:p>
            <a:r>
              <a:t>because a quarter of what I save is a second copy. Irrelevant at this size.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your answer to "do I understand how a vector database finds similar</a:t>
            </a:r>
          </a:p>
          <a:p>
            <a:r>
              <a:t>chunks". Most people answer by naming the algorithm. Answering by explaining that</a:t>
            </a:r>
          </a:p>
          <a:p>
            <a:r>
              <a:t>the database is less accurate than brute force shows you actually understand what</a:t>
            </a:r>
          </a:p>
          <a:p>
            <a:r>
              <a:t>it does.</a:t>
            </a:r>
          </a:p>
          <a:p/>
          <a:p>
            <a:r>
              <a:t>Add: at 155 chunks my loop takes 15 milliseconds, so the database buys me nothing</a:t>
            </a:r>
          </a:p>
          <a:p>
            <a:r>
              <a:t>on speed today. What it does buy me is that the index survives restarting - right</a:t>
            </a:r>
          </a:p>
          <a:p>
            <a:r>
              <a:t>now every run re-embeds everything first, which takes 30 seconds before I can ask</a:t>
            </a:r>
          </a:p>
          <a:p>
            <a:r>
              <a:t>anything.</a:t>
            </a:r>
          </a:p>
          <a:p/>
          <a:p>
            <a:r>
              <a:t>That is a better reason to adopt it than speed, and it is the honest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your answer to the self-check item about handling a question with no good</a:t>
            </a:r>
          </a:p>
          <a:p>
            <a:r>
              <a:t>answer, and it is the most useful thing I found all week.</a:t>
            </a:r>
          </a:p>
          <a:p/>
          <a:p>
            <a:r>
              <a:t>Two points.</a:t>
            </a:r>
          </a:p>
          <a:p/>
          <a:p>
            <a:r>
              <a:t>First, the search always returns results. There is no such thing as "no match" -</a:t>
            </a:r>
          </a:p>
          <a:p>
            <a:r>
              <a:t>it hands back the closest five whatever you ask.</a:t>
            </a:r>
          </a:p>
          <a:p/>
          <a:p>
            <a:r>
              <a:t>Second, the reason it scored 0.339: my question said Sundays, and the chunk it</a:t>
            </a:r>
          </a:p>
          <a:p>
            <a:r>
              <a:t>found contains "Sun Oct 4" from a schedule. The model is right that those are</a:t>
            </a:r>
          </a:p>
          <a:p>
            <a:r>
              <a:t>related in meaning. It has no idea whether being related actually answers the</a:t>
            </a:r>
          </a:p>
          <a:p>
            <a:r>
              <a:t>question.</a:t>
            </a:r>
          </a:p>
          <a:p/>
          <a:p>
            <a:r>
              <a:t>Now the conclusion. On Monday, related sentences scored 0.617 and unrelated ones</a:t>
            </a:r>
          </a:p>
          <a:p>
            <a:r>
              <a:t>0.031, so a cut-off looked easy. Against a real set of notes the usable gap is</a:t>
            </a:r>
          </a:p>
          <a:p>
            <a:r>
              <a:t>0.027 - twenty times narrower. With a few hundred chunks, something is always</a:t>
            </a:r>
          </a:p>
          <a:p>
            <a:r>
              <a:t>somewhat close to anything you ask. So I need two defences: a score cut-off, and</a:t>
            </a:r>
          </a:p>
          <a:p>
            <a:r>
              <a:t>a prompt that lets the model say it cannot find the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 this plainly, no softening.</a:t>
            </a:r>
          </a:p>
          <a:p/>
          <a:p>
            <a:r>
              <a:t>Be honest about the test set: all my measurements so far ran against this</a:t>
            </a:r>
          </a:p>
          <a:p>
            <a:r>
              <a:t>project's own documentation, because my notes folder is still empty. The numbers</a:t>
            </a:r>
          </a:p>
          <a:p>
            <a:r>
              <a:t>are real but they describe the wrong documents. I need to re-run everything on my</a:t>
            </a:r>
          </a:p>
          <a:p>
            <a:r>
              <a:t>own notes, and the README has to describe the set I actually ship.</a:t>
            </a:r>
          </a:p>
          <a:p/>
          <a:p>
            <a:r>
              <a:t>The three explanations are: what an embedding is, why splitting documents</a:t>
            </a:r>
          </a:p>
          <a:p>
            <a:r>
              <a:t>matters, and what semantic search means in plain language.</a:t>
            </a:r>
          </a:p>
          <a:p/>
          <a:p>
            <a:r>
              <a:t>Close by handing him the decision from slide 3. "So the one thing I need from you</a:t>
            </a:r>
          </a:p>
          <a:p>
            <a:r>
              <a:t>is the deadline - 4 October or 11 October?" That makes the meeting useful rather</a:t>
            </a:r>
          </a:p>
          <a:p>
            <a:r>
              <a:t>than just a status report.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2331720"/>
            <a:ext cx="1737360" cy="63500"/>
          </a:xfrm>
          <a:prstGeom prst="rect">
            <a:avLst/>
          </a:prstGeom>
          <a:solidFill>
            <a:srgbClr val="2E8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606040"/>
            <a:ext cx="1054577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400" b="1">
                <a:solidFill>
                  <a:srgbClr val="FFFFFF"/>
                </a:solidFill>
                <a:latin typeface="Segoe UI"/>
              </a:defRPr>
            </a:pPr>
            <a:r>
              <a:t>Ask My Docs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611880"/>
            <a:ext cx="1054577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>
                <a:solidFill>
                  <a:srgbClr val="AEC6D8"/>
                </a:solidFill>
                <a:latin typeface="Segoe UI"/>
              </a:defRPr>
            </a:pPr>
            <a:r>
              <a:t>Week 1 review — embeddings and chunking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029200"/>
            <a:ext cx="105457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7C97AB"/>
                </a:solidFill>
                <a:latin typeface="Segoe UI"/>
              </a:defRPr>
            </a:pPr>
            <a:r>
              <a:t>Mon 21 – Sun 27 Sep 2026     ·     A question-answering tool over my own notes, built without a framework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0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82735" y="62636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Segoe UI"/>
              </a:defRPr>
            </a:pPr>
            <a:r>
              <a:t>Ask My Docs  ·  Week 1   ·   1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566928"/>
            <a:ext cx="1188720" cy="256032"/>
          </a:xfrm>
          <a:prstGeom prst="rect">
            <a:avLst/>
          </a:prstGeom>
          <a:solidFill>
            <a:srgbClr val="1C4E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548640"/>
            <a:ext cx="1188720" cy="2926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978408"/>
            <a:ext cx="10545775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100" b="1">
                <a:solidFill>
                  <a:srgbClr val="0F2A44"/>
                </a:solidFill>
                <a:latin typeface="Segoe UI"/>
              </a:defRPr>
            </a:pPr>
            <a:r>
              <a:t>What the tool will do, and where I am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673352"/>
            <a:ext cx="1371600" cy="38100"/>
          </a:xfrm>
          <a:prstGeom prst="rect">
            <a:avLst/>
          </a:prstGeom>
          <a:solidFill>
            <a:srgbClr val="1C4E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194560" y="1686052"/>
            <a:ext cx="9174175" cy="12700"/>
          </a:xfrm>
          <a:prstGeom prst="rect">
            <a:avLst/>
          </a:prstGeom>
          <a:solidFill>
            <a:srgbClr val="DD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828800"/>
            <a:ext cx="10545775" cy="3977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500"/>
              </a:spcAft>
              <a:defRPr sz="2000" b="1">
                <a:solidFill>
                  <a:srgbClr val="0F2A44"/>
                </a:solidFill>
                <a:latin typeface="Segoe UI"/>
              </a:defRPr>
            </a:pPr>
            <a:r>
              <a:t>Goal: ask questions about my own notes, answered only from those notes</a:t>
            </a:r>
          </a:p>
          <a:p>
            <a:pPr>
              <a:spcAft>
                <a:spcPts val="1500"/>
              </a:spcAft>
              <a:defRPr sz="2000" b="0">
                <a:solidFill>
                  <a:srgbClr val="1B1B1B"/>
                </a:solidFill>
                <a:latin typeface="Segoe UI"/>
              </a:defRPr>
            </a:pPr>
            <a:r>
              <a:t>•   Five stages, each written by hand:</a:t>
            </a:r>
          </a:p>
          <a:p>
            <a:pPr lvl="1">
              <a:spcAft>
                <a:spcPts val="1500"/>
              </a:spcAft>
              <a:defRPr sz="1700" b="0">
                <a:solidFill>
                  <a:srgbClr val="6B7280"/>
                </a:solidFill>
                <a:latin typeface="Segoe UI"/>
              </a:defRPr>
            </a:pPr>
            <a:r>
              <a:t>–   chunk   →   embed   →   store   →   retrieve   →   generate</a:t>
            </a:r>
          </a:p>
          <a:p>
            <a:pPr>
              <a:spcAft>
                <a:spcPts val="1500"/>
              </a:spcAft>
              <a:defRPr sz="2000" b="1">
                <a:solidFill>
                  <a:srgbClr val="0F2A44"/>
                </a:solidFill>
                <a:latin typeface="Segoe UI"/>
              </a:defRPr>
            </a:pPr>
            <a:r>
              <a:t>Week 1 delivered the first two, plus a working search</a:t>
            </a:r>
          </a:p>
          <a:p>
            <a:pPr>
              <a:spcAft>
                <a:spcPts val="1500"/>
              </a:spcAft>
              <a:defRPr sz="2000" b="0">
                <a:solidFill>
                  <a:srgbClr val="1B1B1B"/>
                </a:solidFill>
                <a:latin typeface="Segoe UI"/>
              </a:defRPr>
            </a:pPr>
            <a:r>
              <a:t>•   No LangChain or LlamaIndex — your brief asks for it built manually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989320"/>
            <a:ext cx="81683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i="1">
                <a:solidFill>
                  <a:srgbClr val="6B7280"/>
                </a:solidFill>
                <a:latin typeface="Segoe UI"/>
              </a:defRPr>
            </a:pPr>
            <a:r>
              <a:t>Repo: ask-my-docs  ·  4 commits  ·  Python, a free local embedding model, no API key needed yet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0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82735" y="62636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Segoe UI"/>
              </a:defRPr>
            </a:pPr>
            <a:r>
              <a:t>Ask My Docs  ·  Week 1   ·   2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566928"/>
            <a:ext cx="1892807" cy="256032"/>
          </a:xfrm>
          <a:prstGeom prst="rect">
            <a:avLst/>
          </a:prstGeom>
          <a:solidFill>
            <a:srgbClr val="1C4E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548640"/>
            <a:ext cx="1892807" cy="2926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DECISION NEEDED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978408"/>
            <a:ext cx="10545775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100" b="1">
                <a:solidFill>
                  <a:srgbClr val="0F2A44"/>
                </a:solidFill>
                <a:latin typeface="Segoe UI"/>
              </a:defRPr>
            </a:pPr>
            <a:r>
              <a:t>One thing I need you to decide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673352"/>
            <a:ext cx="1371600" cy="38100"/>
          </a:xfrm>
          <a:prstGeom prst="rect">
            <a:avLst/>
          </a:prstGeom>
          <a:solidFill>
            <a:srgbClr val="1C4E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194560" y="1686052"/>
            <a:ext cx="9174175" cy="12700"/>
          </a:xfrm>
          <a:prstGeom prst="rect">
            <a:avLst/>
          </a:prstGeom>
          <a:solidFill>
            <a:srgbClr val="DD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828800"/>
            <a:ext cx="10545775" cy="3977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500"/>
              </a:spcAft>
              <a:defRPr sz="2000" b="1">
                <a:solidFill>
                  <a:srgbClr val="0F2A44"/>
                </a:solidFill>
                <a:latin typeface="Segoe UI"/>
              </a:defRPr>
            </a:pPr>
            <a:r>
              <a:t>The brief's dates are a week out</a:t>
            </a:r>
          </a:p>
          <a:p>
            <a:pPr lvl="1">
              <a:spcAft>
                <a:spcPts val="1500"/>
              </a:spcAft>
              <a:defRPr sz="1700" b="0">
                <a:solidFill>
                  <a:srgbClr val="6B7280"/>
                </a:solidFill>
                <a:latin typeface="Segoe UI"/>
              </a:defRPr>
            </a:pPr>
            <a:r>
              <a:t>–   It says start Mon 14 Sep, deadline Sun 4 Oct</a:t>
            </a:r>
          </a:p>
          <a:p>
            <a:pPr lvl="1">
              <a:spcAft>
                <a:spcPts val="1500"/>
              </a:spcAft>
              <a:defRPr sz="1700" b="0">
                <a:solidFill>
                  <a:srgbClr val="6B7280"/>
                </a:solidFill>
                <a:latin typeface="Segoe UI"/>
              </a:defRPr>
            </a:pPr>
            <a:r>
              <a:t>–   I actually started Mon 21 Sep</a:t>
            </a:r>
          </a:p>
          <a:p>
            <a:pPr>
              <a:spcAft>
                <a:spcPts val="1500"/>
              </a:spcAft>
              <a:defRPr sz="2000" b="1">
                <a:solidFill>
                  <a:srgbClr val="0F2A44"/>
                </a:solidFill>
                <a:latin typeface="Segoe UI"/>
              </a:defRPr>
            </a:pPr>
            <a:r>
              <a:t>So my weeks are 21–27 Sep, 28 Sep–4 Oct, 5–11 Oct</a:t>
            </a:r>
          </a:p>
          <a:p>
            <a:pPr>
              <a:spcAft>
                <a:spcPts val="1500"/>
              </a:spcAft>
              <a:defRPr sz="2000" b="0">
                <a:solidFill>
                  <a:srgbClr val="1B1B1B"/>
                </a:solidFill>
                <a:latin typeface="Segoe UI"/>
              </a:defRPr>
            </a:pPr>
            <a:r>
              <a:t>•   That puts your 4 Oct deadline at the end of my Week 2</a:t>
            </a:r>
          </a:p>
          <a:p>
            <a:pPr>
              <a:spcAft>
                <a:spcPts val="1500"/>
              </a:spcAft>
              <a:defRPr sz="2000" b="1">
                <a:solidFill>
                  <a:srgbClr val="0F2A44"/>
                </a:solidFill>
                <a:latin typeface="Segoe UI"/>
              </a:defRPr>
            </a:pPr>
            <a:r>
              <a:t>Does the deadline move to 11 Oct, or stay at 4 Oct?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989320"/>
            <a:ext cx="81683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i="1">
                <a:solidFill>
                  <a:srgbClr val="6B7280"/>
                </a:solidFill>
                <a:latin typeface="Segoe UI"/>
              </a:defRPr>
            </a:pPr>
            <a:r>
              <a:t>Your brief says adjusting scope is easy in week 1 and hard on the final Sunday — so I'm asking now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0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82735" y="62636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Segoe UI"/>
              </a:defRPr>
            </a:pPr>
            <a:r>
              <a:t>Ask My Docs  ·  Week 1   ·   3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566928"/>
            <a:ext cx="1389888" cy="256032"/>
          </a:xfrm>
          <a:prstGeom prst="rect">
            <a:avLst/>
          </a:prstGeom>
          <a:solidFill>
            <a:srgbClr val="1C4E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548640"/>
            <a:ext cx="1389888" cy="2926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EMBEDDINGS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978408"/>
            <a:ext cx="10545775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100" b="1">
                <a:solidFill>
                  <a:srgbClr val="0F2A44"/>
                </a:solidFill>
                <a:latin typeface="Segoe UI"/>
              </a:defRPr>
            </a:pPr>
            <a:r>
              <a:t>Embeddings: does this actually work?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673352"/>
            <a:ext cx="1371600" cy="38100"/>
          </a:xfrm>
          <a:prstGeom prst="rect">
            <a:avLst/>
          </a:prstGeom>
          <a:solidFill>
            <a:srgbClr val="1C4E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194560" y="1686052"/>
            <a:ext cx="9174175" cy="12700"/>
          </a:xfrm>
          <a:prstGeom prst="rect">
            <a:avLst/>
          </a:prstGeom>
          <a:solidFill>
            <a:srgbClr val="DD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601468"/>
            <a:ext cx="105457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6B7280"/>
                </a:solidFill>
                <a:latin typeface="Segoe UI"/>
              </a:defRPr>
            </a:pPr>
            <a:r>
              <a:t>I chose a free local model (all-MiniLM-L6-v2) so re-running experiments costs nothing.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822960" y="3131820"/>
          <a:ext cx="10545774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537055"/>
                <a:gridCol w="2008719"/>
              </a:tblGrid>
              <a:tr h="475488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what I compared</a:t>
                      </a:r>
                    </a:p>
                  </a:txBody>
                  <a:tcPr anchor="ctr" marL="146304" marR="1463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2A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score</a:t>
                      </a:r>
                    </a:p>
                  </a:txBody>
                  <a:tcPr anchor="ctr" marL="146304" marR="1463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2A4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B1B1B"/>
                          </a:solidFill>
                          <a:latin typeface="Segoe UI"/>
                        </a:defRPr>
                      </a:pPr>
                      <a:r>
                        <a:t>Three sentences that all mean "I bake at weekends"</a:t>
                      </a:r>
                    </a:p>
                  </a:txBody>
                  <a:tcPr anchor="ctr" marL="146304" marR="1463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B1B1B"/>
                          </a:solidFill>
                          <a:latin typeface="Consolas"/>
                        </a:defRPr>
                      </a:pPr>
                      <a:r>
                        <a:t>0.617</a:t>
                      </a:r>
                    </a:p>
                  </a:txBody>
                  <a:tcPr anchor="ctr" marL="146304" marR="1463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B1B1B"/>
                          </a:solidFill>
                          <a:latin typeface="Segoe UI"/>
                        </a:defRPr>
                      </a:pPr>
                      <a:r>
                        <a:t>Three sentences on unrelated topics</a:t>
                      </a:r>
                    </a:p>
                  </a:txBody>
                  <a:tcPr anchor="ctr" marL="146304" marR="1463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B1B1B"/>
                          </a:solidFill>
                          <a:latin typeface="Consolas"/>
                        </a:defRPr>
                      </a:pPr>
                      <a:r>
                        <a:t>0.031</a:t>
                      </a:r>
                    </a:p>
                  </a:txBody>
                  <a:tcPr anchor="ctr" marL="146304" marR="1463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9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B56E0C"/>
                          </a:solidFill>
                          <a:latin typeface="Segoe UI"/>
                        </a:defRPr>
                      </a:pPr>
                      <a:r>
                        <a:t>"sourdough every weekend" vs "Saturdays, a loaf from scratch"</a:t>
                      </a:r>
                    </a:p>
                  </a:txBody>
                  <a:tcPr anchor="ctr" marL="146304" marR="1463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DF4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B56E0C"/>
                          </a:solidFill>
                          <a:latin typeface="Consolas"/>
                        </a:defRPr>
                      </a:pPr>
                      <a:r>
                        <a:t>0.618</a:t>
                      </a:r>
                    </a:p>
                  </a:txBody>
                  <a:tcPr anchor="ctr" marL="146304" marR="1463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DF4E6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822960" y="5989320"/>
            <a:ext cx="81683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i="1">
                <a:solidFill>
                  <a:srgbClr val="6B7280"/>
                </a:solidFill>
                <a:latin typeface="Segoe UI"/>
              </a:defRPr>
            </a:pPr>
            <a:r>
              <a:t>The highlighted pair shares no useful words at all — a keyword search would score it near zero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0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82735" y="62636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Segoe UI"/>
              </a:defRPr>
            </a:pPr>
            <a:r>
              <a:t>Ask My Docs  ·  Week 1   ·   4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566928"/>
            <a:ext cx="1389888" cy="256032"/>
          </a:xfrm>
          <a:prstGeom prst="rect">
            <a:avLst/>
          </a:prstGeom>
          <a:solidFill>
            <a:srgbClr val="1C4E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548640"/>
            <a:ext cx="1389888" cy="2926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EMBEDDINGS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978408"/>
            <a:ext cx="10545775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100" b="1">
                <a:solidFill>
                  <a:srgbClr val="0F2A44"/>
                </a:solidFill>
                <a:latin typeface="Segoe UI"/>
              </a:defRPr>
            </a:pPr>
            <a:r>
              <a:t>What an embedding is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673352"/>
            <a:ext cx="1371600" cy="38100"/>
          </a:xfrm>
          <a:prstGeom prst="rect">
            <a:avLst/>
          </a:prstGeom>
          <a:solidFill>
            <a:srgbClr val="1C4E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194560" y="1686052"/>
            <a:ext cx="9174175" cy="12700"/>
          </a:xfrm>
          <a:prstGeom prst="rect">
            <a:avLst/>
          </a:prstGeom>
          <a:solidFill>
            <a:srgbClr val="DD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828800"/>
            <a:ext cx="10545775" cy="384048"/>
          </a:xfrm>
          <a:prstGeom prst="rect">
            <a:avLst/>
          </a:prstGeom>
          <a:solidFill>
            <a:srgbClr val="FD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" y="1828800"/>
            <a:ext cx="63500" cy="384048"/>
          </a:xfrm>
          <a:prstGeom prst="rect">
            <a:avLst/>
          </a:prstGeom>
          <a:solidFill>
            <a:srgbClr val="B56E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4128" y="1865376"/>
            <a:ext cx="1018001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B56E0C"/>
                </a:solidFill>
                <a:latin typeface="Segoe UI"/>
              </a:defRPr>
            </a:pPr>
            <a:r>
              <a:t>DRAFT — rewrite this in my own voice before presenting, then delete this strip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487168"/>
            <a:ext cx="10545775" cy="33192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000">
                <a:solidFill>
                  <a:srgbClr val="1B1B1B"/>
                </a:solidFill>
                <a:latin typeface="Segoe UI"/>
              </a:defRPr>
            </a:pPr>
            <a:r>
              <a:t>An embedding is what you get when a model reads text and turns it into a position on a map of meaning.</a:t>
            </a:r>
          </a:p>
          <a:p>
            <a:pPr>
              <a:spcAft>
                <a:spcPts val="1600"/>
              </a:spcAft>
              <a:defRPr sz="2000">
                <a:solidFill>
                  <a:srgbClr val="1B1B1B"/>
                </a:solidFill>
                <a:latin typeface="Segoe UI"/>
              </a:defRPr>
            </a:pPr>
            <a:r>
              <a:t>Text that means similar things lands in nearby positions, even when the actual words are completely different.</a:t>
            </a:r>
          </a:p>
          <a:p>
            <a:pPr>
              <a:spcAft>
                <a:spcPts val="1600"/>
              </a:spcAft>
              <a:defRPr sz="2000">
                <a:solidFill>
                  <a:srgbClr val="1B1B1B"/>
                </a:solidFill>
                <a:latin typeface="Segoe UI"/>
              </a:defRPr>
            </a:pPr>
            <a:r>
              <a:t>The model worked out the layout of that map during training, so nobody chose what each number stands for — and one number on its own tells you nothing.</a:t>
            </a:r>
          </a:p>
          <a:p>
            <a:pPr>
              <a:spcAft>
                <a:spcPts val="1600"/>
              </a:spcAft>
              <a:defRPr sz="2000">
                <a:solidFill>
                  <a:srgbClr val="1B1B1B"/>
                </a:solidFill>
                <a:latin typeface="Segoe UI"/>
              </a:defRPr>
            </a:pPr>
            <a:r>
              <a:t>What carries the information is how close two pieces of text end up to each other.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989320"/>
            <a:ext cx="81683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i="1">
                <a:solidFill>
                  <a:srgbClr val="6B7280"/>
                </a:solidFill>
                <a:latin typeface="Segoe UI"/>
              </a:defRPr>
            </a:pPr>
            <a:r>
              <a:t>Evidence: 7 characters and 196 characters both produce exactly 384 numbers; two sentences with no shared words scored 0.618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0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82735" y="62636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Segoe UI"/>
              </a:defRPr>
            </a:pPr>
            <a:r>
              <a:t>Ask My Docs  ·  Week 1   ·   5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566928"/>
            <a:ext cx="1188720" cy="256032"/>
          </a:xfrm>
          <a:prstGeom prst="rect">
            <a:avLst/>
          </a:prstGeom>
          <a:solidFill>
            <a:srgbClr val="1C4E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548640"/>
            <a:ext cx="1188720" cy="2926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CHUNKING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978408"/>
            <a:ext cx="10545775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100" b="1">
                <a:solidFill>
                  <a:srgbClr val="0F2A44"/>
                </a:solidFill>
                <a:latin typeface="Segoe UI"/>
              </a:defRPr>
            </a:pPr>
            <a:r>
              <a:t>Why chunking needs care: a fact that vanished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673352"/>
            <a:ext cx="1371600" cy="38100"/>
          </a:xfrm>
          <a:prstGeom prst="rect">
            <a:avLst/>
          </a:prstGeom>
          <a:solidFill>
            <a:srgbClr val="1C4E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194560" y="1686052"/>
            <a:ext cx="9174175" cy="12700"/>
          </a:xfrm>
          <a:prstGeom prst="rect">
            <a:avLst/>
          </a:prstGeom>
          <a:solidFill>
            <a:srgbClr val="DD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601468"/>
            <a:ext cx="105457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6B7280"/>
                </a:solidFill>
                <a:latin typeface="Segoe UI"/>
              </a:defRPr>
            </a:pPr>
            <a:r>
              <a:t>I hid one sentence so that a 500-character cut would land in the middle of it.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822960" y="3131820"/>
          <a:ext cx="10545775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27465"/>
                <a:gridCol w="4218310"/>
              </a:tblGrid>
              <a:tr h="475488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how I cut the document</a:t>
                      </a:r>
                    </a:p>
                  </a:txBody>
                  <a:tcPr anchor="ctr" marL="146304" marR="1463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2A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can the fact be found?</a:t>
                      </a:r>
                    </a:p>
                  </a:txBody>
                  <a:tcPr anchor="ctr" marL="146304" marR="1463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2A4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B56E0C"/>
                          </a:solidFill>
                          <a:latin typeface="Segoe UI"/>
                        </a:defRPr>
                      </a:pPr>
                      <a:r>
                        <a:t>500 characters, no overlap</a:t>
                      </a:r>
                    </a:p>
                  </a:txBody>
                  <a:tcPr anchor="ctr" marL="146304" marR="1463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DF4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B56E0C"/>
                          </a:solidFill>
                          <a:latin typeface="Consolas"/>
                        </a:defRPr>
                      </a:pPr>
                      <a:r>
                        <a:t>NO — it is in no chunk</a:t>
                      </a:r>
                    </a:p>
                  </a:txBody>
                  <a:tcPr anchor="ctr" marL="146304" marR="1463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DF4E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B1B1B"/>
                          </a:solidFill>
                          <a:latin typeface="Segoe UI"/>
                        </a:defRPr>
                      </a:pPr>
                      <a:r>
                        <a:t>500 characters, cut at sentence ends</a:t>
                      </a:r>
                    </a:p>
                  </a:txBody>
                  <a:tcPr anchor="ctr" marL="146304" marR="1463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B1B1B"/>
                          </a:solidFill>
                          <a:latin typeface="Consolas"/>
                        </a:defRPr>
                      </a:pPr>
                      <a:r>
                        <a:t>yes</a:t>
                      </a:r>
                    </a:p>
                  </a:txBody>
                  <a:tcPr anchor="ctr" marL="146304" marR="1463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9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B1B1B"/>
                          </a:solidFill>
                          <a:latin typeface="Segoe UI"/>
                        </a:defRPr>
                      </a:pPr>
                      <a:r>
                        <a:t>500 characters, with 100 overlapping</a:t>
                      </a:r>
                    </a:p>
                  </a:txBody>
                  <a:tcPr anchor="ctr" marL="146304" marR="1463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B1B1B"/>
                          </a:solidFill>
                          <a:latin typeface="Consolas"/>
                        </a:defRPr>
                      </a:pPr>
                      <a:r>
                        <a:t>yes</a:t>
                      </a:r>
                    </a:p>
                  </a:txBody>
                  <a:tcPr anchor="ctr" marL="146304" marR="1463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822960" y="5989320"/>
            <a:ext cx="81683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i="1">
                <a:solidFill>
                  <a:srgbClr val="6B7280"/>
                </a:solidFill>
                <a:latin typeface="Segoe UI"/>
              </a:defRPr>
            </a:pPr>
            <a:r>
              <a:t>Overlap means each chunk repeats the last 100 characters of the one before it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0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82735" y="62636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Segoe UI"/>
              </a:defRPr>
            </a:pPr>
            <a:r>
              <a:t>Ask My Docs  ·  Week 1   ·   6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566928"/>
            <a:ext cx="1188720" cy="256032"/>
          </a:xfrm>
          <a:prstGeom prst="rect">
            <a:avLst/>
          </a:prstGeom>
          <a:solidFill>
            <a:srgbClr val="1C4E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548640"/>
            <a:ext cx="1188720" cy="2926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CHUNKING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978408"/>
            <a:ext cx="10545775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100" b="1">
                <a:solidFill>
                  <a:srgbClr val="0F2A44"/>
                </a:solidFill>
                <a:latin typeface="Segoe UI"/>
              </a:defRPr>
            </a:pPr>
            <a:r>
              <a:t>Picking a chunk size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673352"/>
            <a:ext cx="1371600" cy="38100"/>
          </a:xfrm>
          <a:prstGeom prst="rect">
            <a:avLst/>
          </a:prstGeom>
          <a:solidFill>
            <a:srgbClr val="1C4E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194560" y="1686052"/>
            <a:ext cx="9174175" cy="12700"/>
          </a:xfrm>
          <a:prstGeom prst="rect">
            <a:avLst/>
          </a:prstGeom>
          <a:solidFill>
            <a:srgbClr val="DD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601468"/>
            <a:ext cx="105457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6B7280"/>
                </a:solidFill>
                <a:latin typeface="Segoe UI"/>
              </a:defRPr>
            </a:pPr>
            <a:r>
              <a:t>Same document, cut three ways. Small chunks are precise; big chunks drag in clutter.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822960" y="3131820"/>
          <a:ext cx="10545773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51071"/>
                <a:gridCol w="1834047"/>
                <a:gridCol w="5960655"/>
              </a:tblGrid>
              <a:tr h="475488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chunk size</a:t>
                      </a:r>
                    </a:p>
                  </a:txBody>
                  <a:tcPr anchor="ctr" marL="146304" marR="1463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2A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chunks</a:t>
                      </a:r>
                    </a:p>
                  </a:txBody>
                  <a:tcPr anchor="ctr" marL="146304" marR="1463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2A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what one chunk held</a:t>
                      </a:r>
                    </a:p>
                  </a:txBody>
                  <a:tcPr anchor="ctr" marL="146304" marR="1463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2A4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B1B1B"/>
                          </a:solidFill>
                          <a:latin typeface="Segoe UI"/>
                        </a:defRPr>
                      </a:pPr>
                      <a:r>
                        <a:t>300 characters</a:t>
                      </a:r>
                    </a:p>
                  </a:txBody>
                  <a:tcPr anchor="ctr" marL="146304" marR="1463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B1B1B"/>
                          </a:solidFill>
                          <a:latin typeface="Consolas"/>
                        </a:defRPr>
                      </a:pPr>
                      <a:r>
                        <a:t>199</a:t>
                      </a:r>
                    </a:p>
                  </a:txBody>
                  <a:tcPr anchor="ctr" marL="146304" marR="1463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B1B1B"/>
                          </a:solidFill>
                          <a:latin typeface="Consolas"/>
                        </a:defRPr>
                      </a:pPr>
                      <a:r>
                        <a:t>one idea, nothing else</a:t>
                      </a:r>
                    </a:p>
                  </a:txBody>
                  <a:tcPr anchor="ctr" marL="146304" marR="1463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B56E0C"/>
                          </a:solidFill>
                          <a:latin typeface="Segoe UI"/>
                        </a:defRPr>
                      </a:pPr>
                      <a:r>
                        <a:t>500 characters</a:t>
                      </a:r>
                    </a:p>
                  </a:txBody>
                  <a:tcPr anchor="ctr" marL="146304" marR="1463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DF4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B56E0C"/>
                          </a:solidFill>
                          <a:latin typeface="Consolas"/>
                        </a:defRPr>
                      </a:pPr>
                      <a:r>
                        <a:t>155</a:t>
                      </a:r>
                    </a:p>
                  </a:txBody>
                  <a:tcPr anchor="ctr" marL="146304" marR="1463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DF4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B56E0C"/>
                          </a:solidFill>
                          <a:latin typeface="Consolas"/>
                        </a:defRPr>
                      </a:pPr>
                      <a:r>
                        <a:t>one idea + start of a table</a:t>
                      </a:r>
                    </a:p>
                  </a:txBody>
                  <a:tcPr anchor="ctr" marL="146304" marR="1463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DF4E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B1B1B"/>
                          </a:solidFill>
                          <a:latin typeface="Segoe UI"/>
                        </a:defRPr>
                      </a:pPr>
                      <a:r>
                        <a:t>1500 characters</a:t>
                      </a:r>
                    </a:p>
                  </a:txBody>
                  <a:tcPr anchor="ctr" marL="146304" marR="1463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B1B1B"/>
                          </a:solidFill>
                          <a:latin typeface="Consolas"/>
                        </a:defRPr>
                      </a:pPr>
                      <a:r>
                        <a:t>50</a:t>
                      </a:r>
                    </a:p>
                  </a:txBody>
                  <a:tcPr anchor="ctr" marL="146304" marR="1463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B1B1B"/>
                          </a:solidFill>
                          <a:latin typeface="Consolas"/>
                        </a:defRPr>
                      </a:pPr>
                      <a:r>
                        <a:t>the idea, a whole table, 2 more sections</a:t>
                      </a:r>
                    </a:p>
                  </a:txBody>
                  <a:tcPr anchor="ctr" marL="146304" marR="1463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822960" y="5989320"/>
            <a:ext cx="81683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i="1">
                <a:solidFill>
                  <a:srgbClr val="6B7280"/>
                </a:solidFill>
                <a:latin typeface="Segoe UI"/>
              </a:defRPr>
            </a:pPr>
            <a:r>
              <a:t>My choice for now: 500 characters with 100 overlap — provisional until Week 2 tests it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0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82735" y="62636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Segoe UI"/>
              </a:defRPr>
            </a:pPr>
            <a:r>
              <a:t>Ask My Docs  ·  Week 1   ·   7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566928"/>
            <a:ext cx="987552" cy="256032"/>
          </a:xfrm>
          <a:prstGeom prst="rect">
            <a:avLst/>
          </a:prstGeom>
          <a:solidFill>
            <a:srgbClr val="1C4E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548640"/>
            <a:ext cx="987552" cy="2926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SEARCH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978408"/>
            <a:ext cx="10545775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100" b="1">
                <a:solidFill>
                  <a:srgbClr val="0F2A44"/>
                </a:solidFill>
                <a:latin typeface="Segoe UI"/>
              </a:defRPr>
            </a:pPr>
            <a:r>
              <a:t>Friday: I built search with no database at all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673352"/>
            <a:ext cx="1371600" cy="38100"/>
          </a:xfrm>
          <a:prstGeom prst="rect">
            <a:avLst/>
          </a:prstGeom>
          <a:solidFill>
            <a:srgbClr val="1C4E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194560" y="1686052"/>
            <a:ext cx="9174175" cy="12700"/>
          </a:xfrm>
          <a:prstGeom prst="rect">
            <a:avLst/>
          </a:prstGeom>
          <a:solidFill>
            <a:srgbClr val="DD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828800"/>
            <a:ext cx="10545775" cy="96012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" y="1828800"/>
            <a:ext cx="63500" cy="960120"/>
          </a:xfrm>
          <a:prstGeom prst="rect">
            <a:avLst/>
          </a:prstGeom>
          <a:solidFill>
            <a:srgbClr val="2E8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8992" y="1975104"/>
            <a:ext cx="100885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E8B84"/>
                </a:solidFill>
                <a:latin typeface="Segoe UI"/>
              </a:defRPr>
            </a:pPr>
            <a:r>
              <a:t>The database is less accurate than my version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108960"/>
            <a:ext cx="1054577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>
                <a:solidFill>
                  <a:srgbClr val="1B1B1B"/>
                </a:solidFill>
                <a:latin typeface="Segoe UI"/>
              </a:defRPr>
            </a:pPr>
            <a:r>
              <a:t>I embedded all 155 chunks into a plain Python list and searched it with a loop.</a:t>
            </a:r>
          </a:p>
          <a:p>
            <a:pPr>
              <a:spcAft>
                <a:spcPts val="1400"/>
              </a:spcAft>
              <a:defRPr sz="1800">
                <a:solidFill>
                  <a:srgbClr val="1B1B1B"/>
                </a:solidFill>
                <a:latin typeface="Segoe UI"/>
              </a:defRPr>
            </a:pPr>
            <a:r>
              <a:t>My loop compares every chunk, so it cannot miss a match. It is exact.</a:t>
            </a:r>
          </a:p>
          <a:p>
            <a:pPr>
              <a:spcAft>
                <a:spcPts val="1400"/>
              </a:spcAft>
              <a:defRPr sz="1800">
                <a:solidFill>
                  <a:srgbClr val="1B1B1B"/>
                </a:solidFill>
                <a:latin typeface="Segoe UI"/>
              </a:defRPr>
            </a:pPr>
            <a:r>
              <a:t>Chroma, which I add next week, deliberately skips most comparisons.</a:t>
            </a:r>
          </a:p>
          <a:p>
            <a:pPr>
              <a:spcAft>
                <a:spcPts val="1400"/>
              </a:spcAft>
              <a:defRPr sz="1800">
                <a:solidFill>
                  <a:srgbClr val="1B1B1B"/>
                </a:solidFill>
                <a:latin typeface="Segoe UI"/>
              </a:defRPr>
            </a:pPr>
            <a:r>
              <a:t>It trades a small chance of missing a match for speed that holds up as notes grow.</a:t>
            </a:r>
          </a:p>
          <a:p>
            <a:pPr>
              <a:spcAft>
                <a:spcPts val="1400"/>
              </a:spcAft>
              <a:defRPr sz="1800">
                <a:solidFill>
                  <a:srgbClr val="1B1B1B"/>
                </a:solidFill>
                <a:latin typeface="Segoe UI"/>
              </a:defRPr>
            </a:pPr>
            <a:r>
              <a:t>I assumed a real database meant better. It means faster, and slightly less reliable.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0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82735" y="62636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Segoe UI"/>
              </a:defRPr>
            </a:pPr>
            <a:r>
              <a:t>Ask My Docs  ·  Week 1   ·   8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566928"/>
            <a:ext cx="1289304" cy="256032"/>
          </a:xfrm>
          <a:prstGeom prst="rect">
            <a:avLst/>
          </a:prstGeom>
          <a:solidFill>
            <a:srgbClr val="1C4E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548640"/>
            <a:ext cx="1289304" cy="2926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EDGE CASE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978408"/>
            <a:ext cx="10545775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100" b="1">
                <a:solidFill>
                  <a:srgbClr val="0F2A44"/>
                </a:solidFill>
                <a:latin typeface="Segoe UI"/>
              </a:defRPr>
            </a:pPr>
            <a:r>
              <a:t>Asking a question my notes cannot answer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673352"/>
            <a:ext cx="1371600" cy="38100"/>
          </a:xfrm>
          <a:prstGeom prst="rect">
            <a:avLst/>
          </a:prstGeom>
          <a:solidFill>
            <a:srgbClr val="1C4E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194560" y="1686052"/>
            <a:ext cx="9174175" cy="12700"/>
          </a:xfrm>
          <a:prstGeom prst="rect">
            <a:avLst/>
          </a:prstGeom>
          <a:solidFill>
            <a:srgbClr val="DD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601468"/>
            <a:ext cx="105457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6B7280"/>
                </a:solidFill>
                <a:latin typeface="Segoe UI"/>
              </a:defRPr>
            </a:pPr>
            <a:r>
              <a:t>The search still returned five chunks. It always returns something.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822960" y="3131820"/>
          <a:ext cx="10545774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034876"/>
                <a:gridCol w="2510898"/>
              </a:tblGrid>
              <a:tr h="475488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what I asked</a:t>
                      </a:r>
                    </a:p>
                  </a:txBody>
                  <a:tcPr anchor="ctr" marL="146304" marR="1463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2A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best score</a:t>
                      </a:r>
                    </a:p>
                  </a:txBody>
                  <a:tcPr anchor="ctr" marL="146304" marR="1463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2A4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B1B1B"/>
                          </a:solidFill>
                          <a:latin typeface="Segoe UI"/>
                        </a:defRPr>
                      </a:pPr>
                      <a:r>
                        <a:t>"What time does the corner shop close on Sundays?"</a:t>
                      </a:r>
                    </a:p>
                  </a:txBody>
                  <a:tcPr anchor="ctr" marL="146304" marR="1463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B1B1B"/>
                          </a:solidFill>
                          <a:latin typeface="Consolas"/>
                        </a:defRPr>
                      </a:pPr>
                      <a:r>
                        <a:t>0.339</a:t>
                      </a:r>
                    </a:p>
                  </a:txBody>
                  <a:tcPr anchor="ctr" marL="146304" marR="1463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B1B1B"/>
                          </a:solidFill>
                          <a:latin typeface="Segoe UI"/>
                        </a:defRPr>
                      </a:pPr>
                      <a:r>
                        <a:t>The weakest score from a real, answerable question</a:t>
                      </a:r>
                    </a:p>
                  </a:txBody>
                  <a:tcPr anchor="ctr" marL="146304" marR="1463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B1B1B"/>
                          </a:solidFill>
                          <a:latin typeface="Consolas"/>
                        </a:defRPr>
                      </a:pPr>
                      <a:r>
                        <a:t>0.366</a:t>
                      </a:r>
                    </a:p>
                  </a:txBody>
                  <a:tcPr anchor="ctr" marL="146304" marR="1463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9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B56E0C"/>
                          </a:solidFill>
                          <a:latin typeface="Segoe UI"/>
                        </a:defRPr>
                      </a:pPr>
                      <a:r>
                        <a:t>Gap between them</a:t>
                      </a:r>
                    </a:p>
                  </a:txBody>
                  <a:tcPr anchor="ctr" marL="146304" marR="1463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DF4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B56E0C"/>
                          </a:solidFill>
                          <a:latin typeface="Consolas"/>
                        </a:defRPr>
                      </a:pPr>
                      <a:r>
                        <a:t>0.027</a:t>
                      </a:r>
                    </a:p>
                  </a:txBody>
                  <a:tcPr anchor="ctr" marL="146304" marR="1463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DF4E6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822960" y="5989320"/>
            <a:ext cx="81683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i="1">
                <a:solidFill>
                  <a:srgbClr val="6B7280"/>
                </a:solidFill>
                <a:latin typeface="Segoe UI"/>
              </a:defRPr>
            </a:pPr>
            <a:r>
              <a:t>So cutting off low scores is necessary but not enough — Week 3's prompt must also allow "I don't know"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0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82735" y="62636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Segoe UI"/>
              </a:defRPr>
            </a:pPr>
            <a:r>
              <a:t>Ask My Docs  ·  Week 1   ·   9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566928"/>
            <a:ext cx="987552" cy="256032"/>
          </a:xfrm>
          <a:prstGeom prst="rect">
            <a:avLst/>
          </a:prstGeom>
          <a:solidFill>
            <a:srgbClr val="1C4E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548640"/>
            <a:ext cx="987552" cy="2926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978408"/>
            <a:ext cx="10545775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100" b="1">
                <a:solidFill>
                  <a:srgbClr val="0F2A44"/>
                </a:solidFill>
                <a:latin typeface="Segoe UI"/>
              </a:defRPr>
            </a:pPr>
            <a:r>
              <a:t>Where I stand, and what is left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673352"/>
            <a:ext cx="1371600" cy="38100"/>
          </a:xfrm>
          <a:prstGeom prst="rect">
            <a:avLst/>
          </a:prstGeom>
          <a:solidFill>
            <a:srgbClr val="1C4E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194560" y="1686052"/>
            <a:ext cx="9174175" cy="12700"/>
          </a:xfrm>
          <a:prstGeom prst="rect">
            <a:avLst/>
          </a:prstGeom>
          <a:solidFill>
            <a:srgbClr val="DD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25980"/>
            <a:ext cx="105457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6B7280"/>
                </a:solidFill>
                <a:latin typeface="Segoe UI"/>
              </a:defRPr>
            </a:pPr>
            <a:r>
              <a:t>Next week: Chroma, retrieval, and tuning how many chunks to fetch per question.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822960" y="2656332"/>
          <a:ext cx="10545774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16420"/>
                <a:gridCol w="2829354"/>
              </a:tblGrid>
              <a:tr h="475488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item</a:t>
                      </a:r>
                    </a:p>
                  </a:txBody>
                  <a:tcPr anchor="ctr" marL="146304" marR="1463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2A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state</a:t>
                      </a:r>
                    </a:p>
                  </a:txBody>
                  <a:tcPr anchor="ctr" marL="146304" marR="1463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2A4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B1B1B"/>
                          </a:solidFill>
                          <a:latin typeface="Segoe UI"/>
                        </a:defRPr>
                      </a:pPr>
                      <a:r>
                        <a:t>Embeddings working, similarity measured</a:t>
                      </a:r>
                    </a:p>
                  </a:txBody>
                  <a:tcPr anchor="ctr" marL="146304" marR="1463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B1B1B"/>
                          </a:solidFill>
                          <a:latin typeface="Consolas"/>
                        </a:defRPr>
                      </a:pPr>
                      <a:r>
                        <a:t>done</a:t>
                      </a:r>
                    </a:p>
                  </a:txBody>
                  <a:tcPr anchor="ctr" marL="146304" marR="1463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B1B1B"/>
                          </a:solidFill>
                          <a:latin typeface="Segoe UI"/>
                        </a:defRPr>
                      </a:pPr>
                      <a:r>
                        <a:t>Chunking with overlap, sizes compared</a:t>
                      </a:r>
                    </a:p>
                  </a:txBody>
                  <a:tcPr anchor="ctr" marL="146304" marR="1463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B1B1B"/>
                          </a:solidFill>
                          <a:latin typeface="Consolas"/>
                        </a:defRPr>
                      </a:pPr>
                      <a:r>
                        <a:t>done</a:t>
                      </a:r>
                    </a:p>
                  </a:txBody>
                  <a:tcPr anchor="ctr" marL="146304" marR="1463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9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B1B1B"/>
                          </a:solidFill>
                          <a:latin typeface="Segoe UI"/>
                        </a:defRPr>
                      </a:pPr>
                      <a:r>
                        <a:t>All chunks embedded and searchable</a:t>
                      </a:r>
                    </a:p>
                  </a:txBody>
                  <a:tcPr anchor="ctr" marL="146304" marR="1463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B1B1B"/>
                          </a:solidFill>
                          <a:latin typeface="Consolas"/>
                        </a:defRPr>
                      </a:pPr>
                      <a:r>
                        <a:t>done</a:t>
                      </a:r>
                    </a:p>
                  </a:txBody>
                  <a:tcPr anchor="ctr" marL="146304" marR="1463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B56E0C"/>
                          </a:solidFill>
                          <a:latin typeface="Segoe UI"/>
                        </a:defRPr>
                      </a:pPr>
                      <a:r>
                        <a:t>Add 5–10 of my own notes as the test set</a:t>
                      </a:r>
                    </a:p>
                  </a:txBody>
                  <a:tcPr anchor="ctr" marL="146304" marR="1463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DF4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B56E0C"/>
                          </a:solidFill>
                          <a:latin typeface="Consolas"/>
                        </a:defRPr>
                      </a:pPr>
                      <a:r>
                        <a:t>STILL TO DO</a:t>
                      </a:r>
                    </a:p>
                  </a:txBody>
                  <a:tcPr anchor="ctr" marL="146304" marR="1463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DF4E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B56E0C"/>
                          </a:solidFill>
                          <a:latin typeface="Segoe UI"/>
                        </a:defRPr>
                      </a:pPr>
                      <a:r>
                        <a:t>Write my three explanations in my own words</a:t>
                      </a:r>
                    </a:p>
                  </a:txBody>
                  <a:tcPr anchor="ctr" marL="146304" marR="1463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DF4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B56E0C"/>
                          </a:solidFill>
                          <a:latin typeface="Consolas"/>
                        </a:defRPr>
                      </a:pPr>
                      <a:r>
                        <a:t>STILL TO DO</a:t>
                      </a:r>
                    </a:p>
                  </a:txBody>
                  <a:tcPr anchor="ctr" marL="146304" marR="14630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DF4E6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822960" y="5989320"/>
            <a:ext cx="81683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i="1">
                <a:solidFill>
                  <a:srgbClr val="6B7280"/>
                </a:solidFill>
                <a:latin typeface="Segoe UI"/>
              </a:defRPr>
            </a:pPr>
            <a:r>
              <a:t>Both outstanding items are mine — nothing is blocked on anyone else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